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irish" id="{c2bf6695-34ad-1ca5-9c06-f59d612d97e0}">
          <p14:sldIdLst>
            <p14:sldId id="256"/>
            <p14:sldId id="257"/>
          </p14:sldIdLst>
        </p14:section>
        <p14:section name="Yechim" id="{247bfc09-de18-7bca-7b9d-1380d29f34a6}">
          <p14:sldIdLst>
            <p14:sldId id="258"/>
            <p14:sldId id="259"/>
          </p14:sldIdLst>
        </p14:section>
        <p14:section name="Imkoniyatlar" id="{0bab8044-43ac-4392-dfde-7dc82c82ce75}">
          <p14:sldIdLst>
            <p14:sldId id="260"/>
            <p14:sldId id="261"/>
            <p14:sldId id="262"/>
            <p14:sldId id="263"/>
          </p14:sldIdLst>
        </p14:section>
        <p14:section name="Texnologiya" id="{6fc24796-e417-9d29-13a5-28dc2a91f305}">
          <p14:sldIdLst>
            <p14:sldId id="264"/>
            <p14:sldId id="265"/>
          </p14:sldIdLst>
        </p14:section>
        <p14:section name="Yakun" id="{693b37d6-d1d7-c86c-3e59-9a15cc8b8a76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D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3D3A"/>
                </a:solidFill>
                <a:latin typeface="+mn-lt"/>
              </a:rPr>
              <a:t>Tipik kunlik profil, tirbandlik 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Ish kuni</c:v>
                </c:pt>
              </c:strCache>
            </c:strRef>
          </c:tx>
          <c:spPr>
            <a:solidFill>
              <a:srgbClr val="0F766E"/>
            </a:solidFill>
            <a:ln w="3175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4</c:v>
                </c:pt>
                <c:pt idx="7">
                  <c:v>19</c:v>
                </c:pt>
                <c:pt idx="8">
                  <c:v>33</c:v>
                </c:pt>
                <c:pt idx="9">
                  <c:v>22</c:v>
                </c:pt>
                <c:pt idx="10">
                  <c:v>12</c:v>
                </c:pt>
                <c:pt idx="11">
                  <c:v>13</c:v>
                </c:pt>
                <c:pt idx="12">
                  <c:v>16</c:v>
                </c:pt>
                <c:pt idx="13">
                  <c:v>17</c:v>
                </c:pt>
                <c:pt idx="14">
                  <c:v>16</c:v>
                </c:pt>
                <c:pt idx="15">
                  <c:v>14</c:v>
                </c:pt>
                <c:pt idx="16">
                  <c:v>16</c:v>
                </c:pt>
                <c:pt idx="17">
                  <c:v>30</c:v>
                </c:pt>
                <c:pt idx="18">
                  <c:v>33</c:v>
                </c:pt>
                <c:pt idx="19">
                  <c:v>17</c:v>
                </c:pt>
                <c:pt idx="20">
                  <c:v>5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Yakshanba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8</c:v>
                </c:pt>
                <c:pt idx="8">
                  <c:v>14</c:v>
                </c:pt>
                <c:pt idx="9">
                  <c:v>12</c:v>
                </c:pt>
                <c:pt idx="10">
                  <c:v>12</c:v>
                </c:pt>
                <c:pt idx="11">
                  <c:v>16</c:v>
                </c:pt>
                <c:pt idx="12">
                  <c:v>19</c:v>
                </c:pt>
                <c:pt idx="13">
                  <c:v>20</c:v>
                </c:pt>
                <c:pt idx="14">
                  <c:v>19</c:v>
                </c:pt>
                <c:pt idx="15">
                  <c:v>16</c:v>
                </c:pt>
                <c:pt idx="16">
                  <c:v>16</c:v>
                </c:pt>
                <c:pt idx="17">
                  <c:v>23</c:v>
                </c:pt>
                <c:pt idx="18">
                  <c:v>24</c:v>
                </c:pt>
                <c:pt idx="19">
                  <c:v>12</c:v>
                </c:pt>
                <c:pt idx="20">
                  <c:v>4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F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F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B4F4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City Jam — Samarqand tarixiy markazidagi koʻcha harakati va jamoat transportini tahlil qiluvchi va bashorat qiluvchi veb-ilova. U faqat ochiq maʼlumotlardan foydalanadi va brauzerda ishlaydi.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Muammo: tarixiy markazda turistlar, tor koʻchalar va eski infratuzilma tufayli harakatni boshqarish qiyin. Har qanday oʻzgarish, masalan koʻchani bir tomonlama qilish, qoʻshni koʻchalarga taʼsir qiladi. Buni oldindan koʻrish vositasi yoʻq.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Foydalanuvchi koʻchani tanlab, 6 ta tugmadan birini bosadi: bir tomonlama qilish (ikki yoʻnalishda), mashinalarga yopish, avtobus yoʻlagi, svetofor, turistlar koʻpayishi. Hisob brauzerdagi Web Worker’da bir necha soniyada bajariladi.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Sayt bepul ishlaydi. TomTom va OpenAI kalitlari ixtiyoriy. Savollar uchun rahmat.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486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7D"/>
                </a:solidFill>
              </a:rPr>
              <a:t>City Jam — Samarqand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circle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logo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336499" cy="336499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463040" y="6583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Samarqand tarixiy markazi</a:t>
            </a:r>
            <a:endParaRPr lang="en-US" sz="16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4630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City Jam</a:t>
            </a:r>
            <a:endParaRPr lang="en-US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606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Shahar tirbandligini koʻrish, tushunish va oldindan bilish uchun ochiq maʼlumotlarga asoslangan veb-ilova</a:t>
            </a:r>
            <a:endParaRPr lang="en-US" sz="2000" dirty="0"/>
          </a:p>
        </p:txBody>
      </p:sp>
      <p:sp>
        <p:nvSpPr>
          <p:cNvPr id="7" name="tagline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OpenStreetMap</a:t>
            </a:r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TomTom</a:t>
            </a:r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“Agar…?” simulyatsiyasi</a:t>
            </a:r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AI tahlilchi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Tarixiy markazda harakat murakkab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F5D"/>
                </a:solidFill>
              </a:rPr>
              <a:t>Qaror qabul qiluvchilarga koʻcha oʻzgarishining oqibatini oldindan koʻrish vositasi kerak</a:t>
            </a:r>
            <a:endParaRPr lang="en-US" sz="1600" dirty="0"/>
          </a:p>
        </p:txBody>
      </p:sp>
      <p:sp>
        <p:nvSpPr>
          <p:cNvPr id="4" name="prob-card-0"/>
          <p:cNvSpPr/>
          <p:nvPr/>
        </p:nvSpPr>
        <p:spPr>
          <a:xfrm>
            <a:off x="457200" y="1600200"/>
            <a:ext cx="1920240" cy="28346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prob-0-circle"/>
          <p:cNvSpPr/>
          <p:nvPr/>
        </p:nvSpPr>
        <p:spPr>
          <a:xfrm>
            <a:off x="685800" y="1828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prob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622" y="2001622"/>
            <a:ext cx="294437" cy="294437"/>
          </a:xfrm>
          <a:prstGeom prst="rect">
            <a:avLst/>
          </a:prstGeom>
        </p:spPr>
      </p:pic>
      <p:sp>
        <p:nvSpPr>
          <p:cNvPr id="7" name="prob-title-0"/>
          <p:cNvSpPr txBox="1"/>
          <p:nvPr/>
        </p:nvSpPr>
        <p:spPr>
          <a:xfrm>
            <a:off x="685800" y="26517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Turistlar oqimi</a:t>
            </a:r>
            <a:endParaRPr lang="en-US" sz="1600" dirty="0"/>
          </a:p>
        </p:txBody>
      </p:sp>
      <p:sp>
        <p:nvSpPr>
          <p:cNvPr id="8" name="prob-desc-0"/>
          <p:cNvSpPr txBox="1"/>
          <p:nvPr/>
        </p:nvSpPr>
        <p:spPr>
          <a:xfrm>
            <a:off x="685800" y="32461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Registon atrofida mavsumiy yuklama oshadi, tor koʻchalar tez toʻladi</a:t>
            </a:r>
            <a:endParaRPr lang="en-US" sz="1200" dirty="0"/>
          </a:p>
        </p:txBody>
      </p:sp>
      <p:sp>
        <p:nvSpPr>
          <p:cNvPr id="9" name="prob-card-1"/>
          <p:cNvSpPr/>
          <p:nvPr/>
        </p:nvSpPr>
        <p:spPr>
          <a:xfrm>
            <a:off x="2560320" y="1600200"/>
            <a:ext cx="1920240" cy="28346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prob-1-circle"/>
          <p:cNvSpPr/>
          <p:nvPr/>
        </p:nvSpPr>
        <p:spPr>
          <a:xfrm>
            <a:off x="2788920" y="18288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prob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742" y="2001622"/>
            <a:ext cx="294437" cy="294437"/>
          </a:xfrm>
          <a:prstGeom prst="rect">
            <a:avLst/>
          </a:prstGeom>
        </p:spPr>
      </p:pic>
      <p:sp>
        <p:nvSpPr>
          <p:cNvPr id="12" name="prob-title-1"/>
          <p:cNvSpPr txBox="1"/>
          <p:nvPr/>
        </p:nvSpPr>
        <p:spPr>
          <a:xfrm>
            <a:off x="2788920" y="26517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Tartibsiz chorrahalar</a:t>
            </a:r>
            <a:endParaRPr lang="en-US" sz="1600" dirty="0"/>
          </a:p>
        </p:txBody>
      </p:sp>
      <p:sp>
        <p:nvSpPr>
          <p:cNvPr id="13" name="prob-desc-1"/>
          <p:cNvSpPr txBox="1"/>
          <p:nvPr/>
        </p:nvSpPr>
        <p:spPr>
          <a:xfrm>
            <a:off x="2788920" y="32461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Katta koʻchalar kesishmasida svetofor yoʻqligi tiqilinch va xavf tugʻdiradi</a:t>
            </a:r>
            <a:endParaRPr lang="en-US" sz="1200" dirty="0"/>
          </a:p>
        </p:txBody>
      </p:sp>
      <p:sp>
        <p:nvSpPr>
          <p:cNvPr id="14" name="prob-card-2"/>
          <p:cNvSpPr/>
          <p:nvPr/>
        </p:nvSpPr>
        <p:spPr>
          <a:xfrm>
            <a:off x="4663440" y="1600200"/>
            <a:ext cx="1920240" cy="28346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5" name="prob-2-circle"/>
          <p:cNvSpPr/>
          <p:nvPr/>
        </p:nvSpPr>
        <p:spPr>
          <a:xfrm>
            <a:off x="4892040" y="18288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prob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862" y="2001622"/>
            <a:ext cx="294437" cy="294437"/>
          </a:xfrm>
          <a:prstGeom prst="rect">
            <a:avLst/>
          </a:prstGeom>
        </p:spPr>
      </p:pic>
      <p:sp>
        <p:nvSpPr>
          <p:cNvPr id="17" name="prob-title-2"/>
          <p:cNvSpPr txBox="1"/>
          <p:nvPr/>
        </p:nvSpPr>
        <p:spPr>
          <a:xfrm>
            <a:off x="4892040" y="26517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Bolalar xavfsizligi</a:t>
            </a:r>
            <a:endParaRPr lang="en-US" sz="1600" dirty="0"/>
          </a:p>
        </p:txBody>
      </p:sp>
      <p:sp>
        <p:nvSpPr>
          <p:cNvPr id="18" name="prob-desc-2"/>
          <p:cNvSpPr txBox="1"/>
          <p:nvPr/>
        </p:nvSpPr>
        <p:spPr>
          <a:xfrm>
            <a:off x="4892040" y="32461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Maktab va bogʻchalar yonida xavfsiz piyoda oʻtish joylari yetishmaydi</a:t>
            </a:r>
            <a:endParaRPr lang="en-US" sz="1200" dirty="0"/>
          </a:p>
        </p:txBody>
      </p:sp>
      <p:sp>
        <p:nvSpPr>
          <p:cNvPr id="19" name="prob-card-3"/>
          <p:cNvSpPr/>
          <p:nvPr/>
        </p:nvSpPr>
        <p:spPr>
          <a:xfrm>
            <a:off x="6766560" y="1600200"/>
            <a:ext cx="1920240" cy="28346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0" name="prob-3-circle"/>
          <p:cNvSpPr/>
          <p:nvPr/>
        </p:nvSpPr>
        <p:spPr>
          <a:xfrm>
            <a:off x="6995160" y="182880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prob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982" y="2001622"/>
            <a:ext cx="294437" cy="294437"/>
          </a:xfrm>
          <a:prstGeom prst="rect">
            <a:avLst/>
          </a:prstGeom>
        </p:spPr>
      </p:pic>
      <p:sp>
        <p:nvSpPr>
          <p:cNvPr id="22" name="prob-title-3"/>
          <p:cNvSpPr txBox="1"/>
          <p:nvPr/>
        </p:nvSpPr>
        <p:spPr>
          <a:xfrm>
            <a:off x="6995160" y="26517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Bekatlar yetishmaydi</a:t>
            </a:r>
            <a:endParaRPr lang="en-US" sz="1600" dirty="0"/>
          </a:p>
        </p:txBody>
      </p:sp>
      <p:sp>
        <p:nvSpPr>
          <p:cNvPr id="23" name="prob-desc-3"/>
          <p:cNvSpPr txBox="1"/>
          <p:nvPr/>
        </p:nvSpPr>
        <p:spPr>
          <a:xfrm>
            <a:off x="6995160" y="32461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Ayrim hududlardan eng yaqin bekatgacha 400 m dan koʻproq yurish kerak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City Jam: koʻrish → tushunish → qaror</a:t>
            </a:r>
            <a:endParaRPr lang="en-US" sz="3000" dirty="0"/>
          </a:p>
        </p:txBody>
      </p:sp>
      <p:sp>
        <p:nvSpPr>
          <p:cNvPr id="3" name="step-0-circle"/>
          <p:cNvSpPr/>
          <p:nvPr/>
        </p:nvSpPr>
        <p:spPr>
          <a:xfrm>
            <a:off x="1005840" y="13258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tep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039" y="1548079"/>
            <a:ext cx="378562" cy="378562"/>
          </a:xfrm>
          <a:prstGeom prst="rect">
            <a:avLst/>
          </a:prstGeom>
        </p:spPr>
      </p:pic>
      <p:sp>
        <p:nvSpPr>
          <p:cNvPr id="5" name="step-title-0"/>
          <p:cNvSpPr txBox="1"/>
          <p:nvPr/>
        </p:nvSpPr>
        <p:spPr>
          <a:xfrm>
            <a:off x="457200" y="2331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 Koʻrish</a:t>
            </a:r>
            <a:endParaRPr lang="en-US" sz="1800" dirty="0"/>
          </a:p>
        </p:txBody>
      </p:sp>
      <p:sp>
        <p:nvSpPr>
          <p:cNvPr id="6" name="step-desc-0"/>
          <p:cNvSpPr txBox="1"/>
          <p:nvPr/>
        </p:nvSpPr>
        <p:spPr>
          <a:xfrm>
            <a:off x="502920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4F4D"/>
                </a:solidFill>
              </a:rPr>
              <a:t>Xaritada har bir koʻcha tirbandlik rangida: yashil, sariq, qizil</a:t>
            </a:r>
            <a:endParaRPr lang="en-US" sz="1300" dirty="0"/>
          </a:p>
        </p:txBody>
      </p:sp>
      <p:pic>
        <p:nvPicPr>
          <p:cNvPr id="7" name="step-arrow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600200"/>
            <a:ext cx="274320" cy="274320"/>
          </a:xfrm>
          <a:prstGeom prst="rect">
            <a:avLst/>
          </a:prstGeom>
        </p:spPr>
      </p:pic>
      <p:sp>
        <p:nvSpPr>
          <p:cNvPr id="8" name="step-1-circle"/>
          <p:cNvSpPr/>
          <p:nvPr/>
        </p:nvSpPr>
        <p:spPr>
          <a:xfrm>
            <a:off x="3154680" y="13258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step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879" y="1548079"/>
            <a:ext cx="378562" cy="378562"/>
          </a:xfrm>
          <a:prstGeom prst="rect">
            <a:avLst/>
          </a:prstGeom>
        </p:spPr>
      </p:pic>
      <p:sp>
        <p:nvSpPr>
          <p:cNvPr id="10" name="step-title-1"/>
          <p:cNvSpPr txBox="1"/>
          <p:nvPr/>
        </p:nvSpPr>
        <p:spPr>
          <a:xfrm>
            <a:off x="2606040" y="2331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 Tushunish</a:t>
            </a:r>
            <a:endParaRPr lang="en-US" sz="1800" dirty="0"/>
          </a:p>
        </p:txBody>
      </p:sp>
      <p:sp>
        <p:nvSpPr>
          <p:cNvPr id="11" name="step-desc-1"/>
          <p:cNvSpPr txBox="1"/>
          <p:nvPr/>
        </p:nvSpPr>
        <p:spPr>
          <a:xfrm>
            <a:off x="2651760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4F4D"/>
                </a:solidFill>
              </a:rPr>
              <a:t>Muammolar avtomatik topiladi va oddiy tilda tushuntiriladi</a:t>
            </a:r>
            <a:endParaRPr lang="en-US" sz="1300" dirty="0"/>
          </a:p>
        </p:txBody>
      </p:sp>
      <p:pic>
        <p:nvPicPr>
          <p:cNvPr id="12" name="step-arrow-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600200"/>
            <a:ext cx="274320" cy="274320"/>
          </a:xfrm>
          <a:prstGeom prst="rect">
            <a:avLst/>
          </a:prstGeom>
        </p:spPr>
      </p:pic>
      <p:sp>
        <p:nvSpPr>
          <p:cNvPr id="13" name="step-2-circle"/>
          <p:cNvSpPr/>
          <p:nvPr/>
        </p:nvSpPr>
        <p:spPr>
          <a:xfrm>
            <a:off x="5303520" y="13258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step-2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5719" y="1548079"/>
            <a:ext cx="378562" cy="378562"/>
          </a:xfrm>
          <a:prstGeom prst="rect">
            <a:avLst/>
          </a:prstGeom>
        </p:spPr>
      </p:pic>
      <p:sp>
        <p:nvSpPr>
          <p:cNvPr id="15" name="step-title-2"/>
          <p:cNvSpPr txBox="1"/>
          <p:nvPr/>
        </p:nvSpPr>
        <p:spPr>
          <a:xfrm>
            <a:off x="4754880" y="2331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 Oldindan bilish</a:t>
            </a:r>
            <a:endParaRPr lang="en-US" sz="1800" dirty="0"/>
          </a:p>
        </p:txBody>
      </p:sp>
      <p:sp>
        <p:nvSpPr>
          <p:cNvPr id="16" name="step-desc-2"/>
          <p:cNvSpPr txBox="1"/>
          <p:nvPr/>
        </p:nvSpPr>
        <p:spPr>
          <a:xfrm>
            <a:off x="4800600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4F4D"/>
                </a:solidFill>
              </a:rPr>
              <a:t>Kun davomidagi tirbandlik soatbay bashorat qilinadi</a:t>
            </a:r>
            <a:endParaRPr lang="en-US" sz="1300" dirty="0"/>
          </a:p>
        </p:txBody>
      </p:sp>
      <p:pic>
        <p:nvPicPr>
          <p:cNvPr id="17" name="step-arrow-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1600200"/>
            <a:ext cx="274320" cy="274320"/>
          </a:xfrm>
          <a:prstGeom prst="rect">
            <a:avLst/>
          </a:prstGeom>
        </p:spPr>
      </p:pic>
      <p:sp>
        <p:nvSpPr>
          <p:cNvPr id="18" name="step-3-circle"/>
          <p:cNvSpPr/>
          <p:nvPr/>
        </p:nvSpPr>
        <p:spPr>
          <a:xfrm>
            <a:off x="7452360" y="13258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step-3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4559" y="1548079"/>
            <a:ext cx="378562" cy="378562"/>
          </a:xfrm>
          <a:prstGeom prst="rect">
            <a:avLst/>
          </a:prstGeom>
        </p:spPr>
      </p:pic>
      <p:sp>
        <p:nvSpPr>
          <p:cNvPr id="20" name="step-title-3"/>
          <p:cNvSpPr txBox="1"/>
          <p:nvPr/>
        </p:nvSpPr>
        <p:spPr>
          <a:xfrm>
            <a:off x="6903720" y="2331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 Qaror</a:t>
            </a:r>
            <a:endParaRPr lang="en-US" sz="1800" dirty="0"/>
          </a:p>
        </p:txBody>
      </p:sp>
      <p:sp>
        <p:nvSpPr>
          <p:cNvPr id="21" name="step-desc-3"/>
          <p:cNvSpPr txBox="1"/>
          <p:nvPr/>
        </p:nvSpPr>
        <p:spPr>
          <a:xfrm>
            <a:off x="6949440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4F4D"/>
                </a:solidFill>
              </a:rPr>
              <a:t>“Agar…?” — oʻzgarish oqibati amalga oshirishdan oldin hisoblanadi</a:t>
            </a:r>
            <a:endParaRPr lang="en-US" sz="1300" dirty="0"/>
          </a:p>
        </p:txBody>
      </p:sp>
      <p:sp>
        <p:nvSpPr>
          <p:cNvPr id="22" name="principle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3" name="principle-text"/>
          <p:cNvSpPr txBox="1"/>
          <p:nvPr/>
        </p:nvSpPr>
        <p:spPr>
          <a:xfrm>
            <a:off x="685800" y="4114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Asosiy tamoyil: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faqat real maʼlumot. Har bir raqam yonida manbasi turadi — oʻlchov, hisob yoki bashorat aralashtirilmaydi.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Ochiq maʼlumotlar bitta tahlilga birlashadi</a:t>
            </a:r>
            <a:endParaRPr lang="en-US" sz="3000" dirty="0"/>
          </a:p>
        </p:txBody>
      </p:sp>
      <p:sp>
        <p:nvSpPr>
          <p:cNvPr id="3" name="src-0-circle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r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022" y="1361542"/>
            <a:ext cx="294437" cy="294437"/>
          </a:xfrm>
          <a:prstGeom prst="rect">
            <a:avLst/>
          </a:prstGeom>
        </p:spPr>
      </p:pic>
      <p:sp>
        <p:nvSpPr>
          <p:cNvPr id="5" name="src-title-0"/>
          <p:cNvSpPr txBox="1"/>
          <p:nvPr/>
        </p:nvSpPr>
        <p:spPr>
          <a:xfrm>
            <a:off x="1280160" y="1207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OpenStreetMap</a:t>
            </a:r>
            <a:endParaRPr lang="en-US" sz="1600" dirty="0"/>
          </a:p>
        </p:txBody>
      </p:sp>
      <p:sp>
        <p:nvSpPr>
          <p:cNvPr id="6" name="src-desc-0"/>
          <p:cNvSpPr txBox="1"/>
          <p:nvPr/>
        </p:nvSpPr>
        <p:spPr>
          <a:xfrm>
            <a:off x="1280160" y="15179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Koʻchalar, bir tomonlama harakat, polosalar, bekatlar, avtobus yoʻnalishlari, svetoforlar, maktablar</a:t>
            </a:r>
            <a:endParaRPr lang="en-US" sz="1200" dirty="0"/>
          </a:p>
        </p:txBody>
      </p:sp>
      <p:sp>
        <p:nvSpPr>
          <p:cNvPr id="7" name="src-1-circle"/>
          <p:cNvSpPr/>
          <p:nvPr/>
        </p:nvSpPr>
        <p:spPr>
          <a:xfrm>
            <a:off x="457200" y="20574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sr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2" y="2230222"/>
            <a:ext cx="294437" cy="294437"/>
          </a:xfrm>
          <a:prstGeom prst="rect">
            <a:avLst/>
          </a:prstGeom>
        </p:spPr>
      </p:pic>
      <p:sp>
        <p:nvSpPr>
          <p:cNvPr id="9" name="src-title-1"/>
          <p:cNvSpPr txBox="1"/>
          <p:nvPr/>
        </p:nvSpPr>
        <p:spPr>
          <a:xfrm>
            <a:off x="1280160" y="20756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TomTom Traffic</a:t>
            </a:r>
            <a:endParaRPr lang="en-US" sz="1600" dirty="0"/>
          </a:p>
        </p:txBody>
      </p:sp>
      <p:sp>
        <p:nvSpPr>
          <p:cNvPr id="10" name="src-desc-1"/>
          <p:cNvSpPr txBox="1"/>
          <p:nvPr/>
        </p:nvSpPr>
        <p:spPr>
          <a:xfrm>
            <a:off x="1280160" y="23865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Koʻchadagi joriy va erkin oqim tezligi — real tirbandlik foizi</a:t>
            </a:r>
            <a:endParaRPr lang="en-US" sz="1200" dirty="0"/>
          </a:p>
        </p:txBody>
      </p:sp>
      <p:sp>
        <p:nvSpPr>
          <p:cNvPr id="11" name="src-2-circle"/>
          <p:cNvSpPr/>
          <p:nvPr/>
        </p:nvSpPr>
        <p:spPr>
          <a:xfrm>
            <a:off x="457200" y="2926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sr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2" y="3098902"/>
            <a:ext cx="294437" cy="294437"/>
          </a:xfrm>
          <a:prstGeom prst="rect">
            <a:avLst/>
          </a:prstGeom>
        </p:spPr>
      </p:pic>
      <p:sp>
        <p:nvSpPr>
          <p:cNvPr id="13" name="src-title-2"/>
          <p:cNvSpPr txBox="1"/>
          <p:nvPr/>
        </p:nvSpPr>
        <p:spPr>
          <a:xfrm>
            <a:off x="1280160" y="29443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Model (hisob)</a:t>
            </a:r>
            <a:endParaRPr lang="en-US" sz="1600" dirty="0"/>
          </a:p>
        </p:txBody>
      </p:sp>
      <p:sp>
        <p:nvSpPr>
          <p:cNvPr id="14" name="src-desc-2"/>
          <p:cNvSpPr txBox="1"/>
          <p:nvPr/>
        </p:nvSpPr>
        <p:spPr>
          <a:xfrm>
            <a:off x="1280160" y="32552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Qoidalar, soatbay bashorat va transport oqimi simulyatsiyasi</a:t>
            </a:r>
            <a:endParaRPr lang="en-US" sz="1200" dirty="0"/>
          </a:p>
        </p:txBody>
      </p:sp>
      <p:sp>
        <p:nvSpPr>
          <p:cNvPr id="15" name="src-3-circle"/>
          <p:cNvSpPr/>
          <p:nvPr/>
        </p:nvSpPr>
        <p:spPr>
          <a:xfrm>
            <a:off x="457200" y="37947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sr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2" y="3967582"/>
            <a:ext cx="294437" cy="294437"/>
          </a:xfrm>
          <a:prstGeom prst="rect">
            <a:avLst/>
          </a:prstGeom>
        </p:spPr>
      </p:pic>
      <p:sp>
        <p:nvSpPr>
          <p:cNvPr id="17" name="src-title-3"/>
          <p:cNvSpPr txBox="1"/>
          <p:nvPr/>
        </p:nvSpPr>
        <p:spPr>
          <a:xfrm>
            <a:off x="1280160" y="3813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tahlilchi</a:t>
            </a:r>
            <a:endParaRPr lang="en-US" sz="1600" dirty="0"/>
          </a:p>
        </p:txBody>
      </p:sp>
      <p:sp>
        <p:nvSpPr>
          <p:cNvPr id="18" name="src-desc-3"/>
          <p:cNvSpPr txBox="1"/>
          <p:nvPr/>
        </p:nvSpPr>
        <p:spPr>
          <a:xfrm>
            <a:off x="1280160" y="41239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Oʻzbekcha savolga faqat hisoblangan raqamlar asosida javob beradi</a:t>
            </a:r>
            <a:endParaRPr lang="en-US" sz="1200" dirty="0"/>
          </a:p>
        </p:txBody>
      </p:sp>
      <p:sp>
        <p:nvSpPr>
          <p:cNvPr id="19" name="badges-card"/>
          <p:cNvSpPr/>
          <p:nvPr/>
        </p:nvSpPr>
        <p:spPr>
          <a:xfrm>
            <a:off x="5394960" y="1188720"/>
            <a:ext cx="329184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/>
        </p:spPr>
      </p:sp>
      <p:sp>
        <p:nvSpPr>
          <p:cNvPr id="20" name="badges-title"/>
          <p:cNvSpPr txBox="1"/>
          <p:nvPr/>
        </p:nvSpPr>
        <p:spPr>
          <a:xfrm>
            <a:off x="562356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Har bir raqamning manba belgisi</a:t>
            </a:r>
            <a:endParaRPr lang="en-US" sz="1500" dirty="0"/>
          </a:p>
        </p:txBody>
      </p:sp>
      <p:sp>
        <p:nvSpPr>
          <p:cNvPr id="21" name="badge-0"/>
          <p:cNvSpPr/>
          <p:nvPr/>
        </p:nvSpPr>
        <p:spPr>
          <a:xfrm>
            <a:off x="5623560" y="18745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</p:sp>
      <p:sp>
        <p:nvSpPr>
          <p:cNvPr id="22" name="badge-text-0"/>
          <p:cNvSpPr txBox="1"/>
          <p:nvPr/>
        </p:nvSpPr>
        <p:spPr>
          <a:xfrm>
            <a:off x="5623560" y="18745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OpenStreetMap</a:t>
            </a:r>
            <a:endParaRPr lang="en-US" sz="1100" dirty="0"/>
          </a:p>
        </p:txBody>
      </p:sp>
      <p:sp>
        <p:nvSpPr>
          <p:cNvPr id="23" name="badge-desc-0"/>
          <p:cNvSpPr txBox="1"/>
          <p:nvPr/>
        </p:nvSpPr>
        <p:spPr>
          <a:xfrm>
            <a:off x="6949440" y="18745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ochiq xarita maʼlumoti</a:t>
            </a:r>
            <a:endParaRPr lang="en-US" sz="1200" dirty="0"/>
          </a:p>
        </p:txBody>
      </p:sp>
      <p:sp>
        <p:nvSpPr>
          <p:cNvPr id="24" name="badge-1"/>
          <p:cNvSpPr/>
          <p:nvPr/>
        </p:nvSpPr>
        <p:spPr>
          <a:xfrm>
            <a:off x="5623560" y="235000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5" name="badge-text-1"/>
          <p:cNvSpPr txBox="1"/>
          <p:nvPr/>
        </p:nvSpPr>
        <p:spPr>
          <a:xfrm>
            <a:off x="5623560" y="23500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TomTom</a:t>
            </a:r>
            <a:endParaRPr lang="en-US" sz="1100" dirty="0"/>
          </a:p>
        </p:txBody>
      </p:sp>
      <p:sp>
        <p:nvSpPr>
          <p:cNvPr id="26" name="badge-desc-1"/>
          <p:cNvSpPr txBox="1"/>
          <p:nvPr/>
        </p:nvSpPr>
        <p:spPr>
          <a:xfrm>
            <a:off x="6949440" y="23500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real oʻlchov</a:t>
            </a:r>
            <a:endParaRPr lang="en-US" sz="1200" dirty="0"/>
          </a:p>
        </p:txBody>
      </p:sp>
      <p:sp>
        <p:nvSpPr>
          <p:cNvPr id="27" name="badge-2"/>
          <p:cNvSpPr/>
          <p:nvPr/>
        </p:nvSpPr>
        <p:spPr>
          <a:xfrm>
            <a:off x="5623560" y="282549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28" name="badge-text-2"/>
          <p:cNvSpPr txBox="1"/>
          <p:nvPr/>
        </p:nvSpPr>
        <p:spPr>
          <a:xfrm>
            <a:off x="5623560" y="282549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Hisob</a:t>
            </a:r>
            <a:endParaRPr lang="en-US" sz="1100" dirty="0"/>
          </a:p>
        </p:txBody>
      </p:sp>
      <p:sp>
        <p:nvSpPr>
          <p:cNvPr id="29" name="badge-desc-2"/>
          <p:cNvSpPr txBox="1"/>
          <p:nvPr/>
        </p:nvSpPr>
        <p:spPr>
          <a:xfrm>
            <a:off x="6949440" y="28254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qoida asosidagi hisob</a:t>
            </a:r>
            <a:endParaRPr lang="en-US" sz="1200" dirty="0"/>
          </a:p>
        </p:txBody>
      </p:sp>
      <p:sp>
        <p:nvSpPr>
          <p:cNvPr id="30" name="badge-3"/>
          <p:cNvSpPr/>
          <p:nvPr/>
        </p:nvSpPr>
        <p:spPr>
          <a:xfrm>
            <a:off x="5623560" y="330098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1" name="badge-text-3"/>
          <p:cNvSpPr txBox="1"/>
          <p:nvPr/>
        </p:nvSpPr>
        <p:spPr>
          <a:xfrm>
            <a:off x="5623560" y="33009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Bashorat</a:t>
            </a:r>
            <a:endParaRPr lang="en-US" sz="1100" dirty="0"/>
          </a:p>
        </p:txBody>
      </p:sp>
      <p:sp>
        <p:nvSpPr>
          <p:cNvPr id="32" name="badge-desc-3"/>
          <p:cNvSpPr txBox="1"/>
          <p:nvPr/>
        </p:nvSpPr>
        <p:spPr>
          <a:xfrm>
            <a:off x="6949440" y="330098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model natijasi</a:t>
            </a:r>
            <a:endParaRPr lang="en-US" sz="1200" dirty="0"/>
          </a:p>
        </p:txBody>
      </p:sp>
      <p:sp>
        <p:nvSpPr>
          <p:cNvPr id="33" name="badge-4"/>
          <p:cNvSpPr/>
          <p:nvPr/>
        </p:nvSpPr>
        <p:spPr>
          <a:xfrm>
            <a:off x="5623560" y="377647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4" name="badge-text-4"/>
          <p:cNvSpPr txBox="1"/>
          <p:nvPr/>
        </p:nvSpPr>
        <p:spPr>
          <a:xfrm>
            <a:off x="5623560" y="3776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</p:txBody>
      </p:sp>
      <p:sp>
        <p:nvSpPr>
          <p:cNvPr id="35" name="badge-desc-4"/>
          <p:cNvSpPr txBox="1"/>
          <p:nvPr/>
        </p:nvSpPr>
        <p:spPr>
          <a:xfrm>
            <a:off x="6949440" y="37764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matnli xulosa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Beshta boʻlim — bitta ilovada</a:t>
            </a:r>
            <a:endParaRPr lang="en-US" sz="3000" dirty="0"/>
          </a:p>
        </p:txBody>
      </p:sp>
      <p:sp>
        <p:nvSpPr>
          <p:cNvPr id="3" name="tab-card-0"/>
          <p:cNvSpPr/>
          <p:nvPr/>
        </p:nvSpPr>
        <p:spPr>
          <a:xfrm>
            <a:off x="457200" y="118872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tab-0-circle"/>
          <p:cNvSpPr/>
          <p:nvPr/>
        </p:nvSpPr>
        <p:spPr>
          <a:xfrm>
            <a:off x="640080" y="1389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ab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538021"/>
            <a:ext cx="252374" cy="252374"/>
          </a:xfrm>
          <a:prstGeom prst="rect">
            <a:avLst/>
          </a:prstGeom>
        </p:spPr>
      </p:pic>
      <p:sp>
        <p:nvSpPr>
          <p:cNvPr id="6" name="tab-title-0"/>
          <p:cNvSpPr txBox="1"/>
          <p:nvPr/>
        </p:nvSpPr>
        <p:spPr>
          <a:xfrm>
            <a:off x="1325880" y="14813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Xarita</a:t>
            </a:r>
            <a:endParaRPr lang="en-US" sz="1700" dirty="0"/>
          </a:p>
        </p:txBody>
      </p:sp>
      <p:sp>
        <p:nvSpPr>
          <p:cNvPr id="7" name="tab-desc-0"/>
          <p:cNvSpPr txBox="1"/>
          <p:nvPr/>
        </p:nvSpPr>
        <p:spPr>
          <a:xfrm>
            <a:off x="640080" y="20299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Koʻcha qidiruvi, bosganda toʻliq maʼlumot va harakat tugmalari</a:t>
            </a:r>
            <a:endParaRPr lang="en-US" sz="1200" dirty="0"/>
          </a:p>
        </p:txBody>
      </p:sp>
      <p:sp>
        <p:nvSpPr>
          <p:cNvPr id="8" name="tab-card-1"/>
          <p:cNvSpPr/>
          <p:nvPr/>
        </p:nvSpPr>
        <p:spPr>
          <a:xfrm>
            <a:off x="3246120" y="118872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" name="tab-1-circle"/>
          <p:cNvSpPr/>
          <p:nvPr/>
        </p:nvSpPr>
        <p:spPr>
          <a:xfrm>
            <a:off x="3429000" y="1389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tab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133" y="1538021"/>
            <a:ext cx="252374" cy="252374"/>
          </a:xfrm>
          <a:prstGeom prst="rect">
            <a:avLst/>
          </a:prstGeom>
        </p:spPr>
      </p:pic>
      <p:sp>
        <p:nvSpPr>
          <p:cNvPr id="11" name="tab-title-1"/>
          <p:cNvSpPr txBox="1"/>
          <p:nvPr/>
        </p:nvSpPr>
        <p:spPr>
          <a:xfrm>
            <a:off x="4114800" y="14813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Muammolar</a:t>
            </a:r>
            <a:endParaRPr lang="en-US" sz="1700" dirty="0"/>
          </a:p>
        </p:txBody>
      </p:sp>
      <p:sp>
        <p:nvSpPr>
          <p:cNvPr id="12" name="tab-desc-1"/>
          <p:cNvSpPr txBox="1"/>
          <p:nvPr/>
        </p:nvSpPr>
        <p:spPr>
          <a:xfrm>
            <a:off x="3429000" y="20299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Jonli kuzatuv, oddiy tilda muammo va yechim, taxminiy narx</a:t>
            </a:r>
            <a:endParaRPr lang="en-US" sz="1200" dirty="0"/>
          </a:p>
        </p:txBody>
      </p:sp>
      <p:sp>
        <p:nvSpPr>
          <p:cNvPr id="13" name="tab-card-2"/>
          <p:cNvSpPr/>
          <p:nvPr/>
        </p:nvSpPr>
        <p:spPr>
          <a:xfrm>
            <a:off x="6035040" y="118872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4" name="tab-2-circle"/>
          <p:cNvSpPr/>
          <p:nvPr/>
        </p:nvSpPr>
        <p:spPr>
          <a:xfrm>
            <a:off x="6217920" y="1389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tab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1538021"/>
            <a:ext cx="252374" cy="252374"/>
          </a:xfrm>
          <a:prstGeom prst="rect">
            <a:avLst/>
          </a:prstGeom>
        </p:spPr>
      </p:pic>
      <p:sp>
        <p:nvSpPr>
          <p:cNvPr id="16" name="tab-title-2"/>
          <p:cNvSpPr txBox="1"/>
          <p:nvPr/>
        </p:nvSpPr>
        <p:spPr>
          <a:xfrm>
            <a:off x="6903720" y="14813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Avtobuslar</a:t>
            </a:r>
            <a:endParaRPr lang="en-US" sz="1700" dirty="0"/>
          </a:p>
        </p:txBody>
      </p:sp>
      <p:sp>
        <p:nvSpPr>
          <p:cNvPr id="17" name="tab-desc-2"/>
          <p:cNvSpPr txBox="1"/>
          <p:nvPr/>
        </p:nvSpPr>
        <p:spPr>
          <a:xfrm>
            <a:off x="6217920" y="20299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Yoʻnalishlar, bekatlar soni va oraligʻi, oʻtadigan koʻchalar</a:t>
            </a:r>
            <a:endParaRPr lang="en-US" sz="1200" dirty="0"/>
          </a:p>
        </p:txBody>
      </p:sp>
      <p:sp>
        <p:nvSpPr>
          <p:cNvPr id="18" name="tab-card-3"/>
          <p:cNvSpPr/>
          <p:nvPr/>
        </p:nvSpPr>
        <p:spPr>
          <a:xfrm>
            <a:off x="457200" y="288036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9" name="tab-3-circle"/>
          <p:cNvSpPr/>
          <p:nvPr/>
        </p:nvSpPr>
        <p:spPr>
          <a:xfrm>
            <a:off x="640080" y="30815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tab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3" y="3229661"/>
            <a:ext cx="252374" cy="252374"/>
          </a:xfrm>
          <a:prstGeom prst="rect">
            <a:avLst/>
          </a:prstGeom>
        </p:spPr>
      </p:pic>
      <p:sp>
        <p:nvSpPr>
          <p:cNvPr id="21" name="tab-title-3"/>
          <p:cNvSpPr txBox="1"/>
          <p:nvPr/>
        </p:nvSpPr>
        <p:spPr>
          <a:xfrm>
            <a:off x="1325880" y="3172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Bashorat</a:t>
            </a:r>
            <a:endParaRPr lang="en-US" sz="1700" dirty="0"/>
          </a:p>
        </p:txBody>
      </p:sp>
      <p:sp>
        <p:nvSpPr>
          <p:cNvPr id="22" name="tab-desc-3"/>
          <p:cNvSpPr txBox="1"/>
          <p:nvPr/>
        </p:nvSpPr>
        <p:spPr>
          <a:xfrm>
            <a:off x="640080" y="3721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Keyingi 24 soat va hafta kunlari boʻyicha tirbandlik</a:t>
            </a:r>
            <a:endParaRPr lang="en-US" sz="1200" dirty="0"/>
          </a:p>
        </p:txBody>
      </p:sp>
      <p:sp>
        <p:nvSpPr>
          <p:cNvPr id="23" name="tab-card-4"/>
          <p:cNvSpPr/>
          <p:nvPr/>
        </p:nvSpPr>
        <p:spPr>
          <a:xfrm>
            <a:off x="3246120" y="288036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4" name="tab-4-circle"/>
          <p:cNvSpPr/>
          <p:nvPr/>
        </p:nvSpPr>
        <p:spPr>
          <a:xfrm>
            <a:off x="3429000" y="30815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tab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7133" y="3229661"/>
            <a:ext cx="252374" cy="252374"/>
          </a:xfrm>
          <a:prstGeom prst="rect">
            <a:avLst/>
          </a:prstGeom>
        </p:spPr>
      </p:pic>
      <p:sp>
        <p:nvSpPr>
          <p:cNvPr id="26" name="tab-title-4"/>
          <p:cNvSpPr txBox="1"/>
          <p:nvPr/>
        </p:nvSpPr>
        <p:spPr>
          <a:xfrm>
            <a:off x="4114800" y="3172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Hisobot</a:t>
            </a:r>
            <a:endParaRPr lang="en-US" sz="1700" dirty="0"/>
          </a:p>
        </p:txBody>
      </p:sp>
      <p:sp>
        <p:nvSpPr>
          <p:cNvPr id="27" name="tab-desc-4"/>
          <p:cNvSpPr txBox="1"/>
          <p:nvPr/>
        </p:nvSpPr>
        <p:spPr>
          <a:xfrm>
            <a:off x="3429000" y="3721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Koʻrsatkichlar, tavsiyalar va JSON eksport</a:t>
            </a:r>
            <a:endParaRPr lang="en-US" sz="1200" dirty="0"/>
          </a:p>
        </p:txBody>
      </p:sp>
      <p:sp>
        <p:nvSpPr>
          <p:cNvPr id="28" name="tab-card-5"/>
          <p:cNvSpPr/>
          <p:nvPr/>
        </p:nvSpPr>
        <p:spPr>
          <a:xfrm>
            <a:off x="6035040" y="288036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9" name="tab-5-circle"/>
          <p:cNvSpPr/>
          <p:nvPr/>
        </p:nvSpPr>
        <p:spPr>
          <a:xfrm>
            <a:off x="6217920" y="30815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tab-5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6053" y="3229661"/>
            <a:ext cx="252374" cy="252374"/>
          </a:xfrm>
          <a:prstGeom prst="rect">
            <a:avLst/>
          </a:prstGeom>
        </p:spPr>
      </p:pic>
      <p:sp>
        <p:nvSpPr>
          <p:cNvPr id="31" name="tab-title-5"/>
          <p:cNvSpPr txBox="1"/>
          <p:nvPr/>
        </p:nvSpPr>
        <p:spPr>
          <a:xfrm>
            <a:off x="6903720" y="3172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AI savol</a:t>
            </a:r>
            <a:endParaRPr lang="en-US" sz="1700" dirty="0"/>
          </a:p>
        </p:txBody>
      </p:sp>
      <p:sp>
        <p:nvSpPr>
          <p:cNvPr id="32" name="tab-desc-5"/>
          <p:cNvSpPr txBox="1"/>
          <p:nvPr/>
        </p:nvSpPr>
        <p:spPr>
          <a:xfrm>
            <a:off x="6217920" y="3721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“Bu koʻchani yopsak nima boʻladi?” — erkin savol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“Bu koʻchaga nima qilmoqchisiz?”</a:t>
            </a:r>
            <a:endParaRPr lang="en-US" sz="3000" dirty="0"/>
          </a:p>
        </p:txBody>
      </p:sp>
      <p:sp>
        <p:nvSpPr>
          <p:cNvPr id="3" name="sim-sub"/>
          <p:cNvSpPr txBox="1"/>
          <p:nvPr/>
        </p:nvSpPr>
        <p:spPr>
          <a:xfrm>
            <a:off x="457200" y="960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F5D"/>
                </a:solidFill>
              </a:rPr>
              <a:t>Koʻchani bosing va variantni tanlang — dastur butun tarmoq boʻyicha oqibatni hisoblaydi</a:t>
            </a:r>
            <a:endParaRPr lang="en-US" sz="1400" dirty="0"/>
          </a:p>
        </p:txBody>
      </p:sp>
      <p:sp>
        <p:nvSpPr>
          <p:cNvPr id="4" name="out-0-circle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out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769364"/>
            <a:ext cx="210312" cy="210312"/>
          </a:xfrm>
          <a:prstGeom prst="rect">
            <a:avLst/>
          </a:prstGeom>
        </p:spPr>
      </p:pic>
      <p:sp>
        <p:nvSpPr>
          <p:cNvPr id="6" name="out-text-0"/>
          <p:cNvSpPr txBox="1"/>
          <p:nvPr/>
        </p:nvSpPr>
        <p:spPr>
          <a:xfrm>
            <a:off x="1051560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Umumiy yoʻl vaqti qanchaga oʻzgaradi</a:t>
            </a:r>
            <a:endParaRPr lang="en-US" sz="1400" dirty="0"/>
          </a:p>
        </p:txBody>
      </p:sp>
      <p:sp>
        <p:nvSpPr>
          <p:cNvPr id="7" name="out-1-circle"/>
          <p:cNvSpPr/>
          <p:nvPr/>
        </p:nvSpPr>
        <p:spPr>
          <a:xfrm>
            <a:off x="457200" y="22677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out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2391156"/>
            <a:ext cx="210312" cy="210312"/>
          </a:xfrm>
          <a:prstGeom prst="rect">
            <a:avLst/>
          </a:prstGeom>
        </p:spPr>
      </p:pic>
      <p:sp>
        <p:nvSpPr>
          <p:cNvPr id="9" name="out-text-1"/>
          <p:cNvSpPr txBox="1"/>
          <p:nvPr/>
        </p:nvSpPr>
        <p:spPr>
          <a:xfrm>
            <a:off x="1051560" y="2340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Qaysi qoʻshni koʻchalar yuklanadi yoki yengillashadi</a:t>
            </a:r>
            <a:endParaRPr lang="en-US" sz="1400" dirty="0"/>
          </a:p>
        </p:txBody>
      </p:sp>
      <p:sp>
        <p:nvSpPr>
          <p:cNvPr id="10" name="out-2-circle"/>
          <p:cNvSpPr/>
          <p:nvPr/>
        </p:nvSpPr>
        <p:spPr>
          <a:xfrm>
            <a:off x="457200" y="288950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out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3012948"/>
            <a:ext cx="210312" cy="210312"/>
          </a:xfrm>
          <a:prstGeom prst="rect">
            <a:avLst/>
          </a:prstGeom>
        </p:spPr>
      </p:pic>
      <p:sp>
        <p:nvSpPr>
          <p:cNvPr id="12" name="out-text-2"/>
          <p:cNvSpPr txBox="1"/>
          <p:nvPr/>
        </p:nvSpPr>
        <p:spPr>
          <a:xfrm>
            <a:off x="1051560" y="29626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Qaysi avtobus liniyalari yoʻnalishini oʻzgartiradi</a:t>
            </a:r>
            <a:endParaRPr lang="en-US" sz="1400" dirty="0"/>
          </a:p>
        </p:txBody>
      </p:sp>
      <p:sp>
        <p:nvSpPr>
          <p:cNvPr id="13" name="out-3-circle"/>
          <p:cNvSpPr/>
          <p:nvPr/>
        </p:nvSpPr>
        <p:spPr>
          <a:xfrm>
            <a:off x="457200" y="35112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out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3634740"/>
            <a:ext cx="210312" cy="210312"/>
          </a:xfrm>
          <a:prstGeom prst="rect">
            <a:avLst/>
          </a:prstGeom>
        </p:spPr>
      </p:pic>
      <p:sp>
        <p:nvSpPr>
          <p:cNvPr id="15" name="out-text-3"/>
          <p:cNvSpPr txBox="1"/>
          <p:nvPr/>
        </p:nvSpPr>
        <p:spPr>
          <a:xfrm>
            <a:off x="1051560" y="3584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Aniq xulosa: Mos keladi / Ehtiyotkorlik bilan / Tavsiya etilmaydi</a:t>
            </a:r>
            <a:endParaRPr lang="en-US" sz="1400" dirty="0"/>
          </a:p>
        </p:txBody>
      </p:sp>
      <p:sp>
        <p:nvSpPr>
          <p:cNvPr id="16" name="sim-model"/>
          <p:cNvSpPr txBox="1"/>
          <p:nvPr/>
        </p:nvSpPr>
        <p:spPr>
          <a:xfrm>
            <a:off x="457200" y="4160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F7D"/>
                </a:solidFill>
              </a:rPr>
              <a:t>Model: OSM tarmogʻi grafi, gravitatsion talab, MSA muvozanati, BPR funksiyasi. Natija xaritada qizil/yashil chiziqlarda koʻrinadi.</a:t>
            </a:r>
            <a:endParaRPr lang="en-US" sz="1100" dirty="0"/>
          </a:p>
        </p:txBody>
      </p:sp>
      <p:sp>
        <p:nvSpPr>
          <p:cNvPr id="17" name="shot-bg"/>
          <p:cNvSpPr/>
          <p:nvPr/>
        </p:nvSpPr>
        <p:spPr>
          <a:xfrm>
            <a:off x="5532120" y="960120"/>
            <a:ext cx="3154680" cy="35204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pic>
        <p:nvPicPr>
          <p:cNvPr id="18" name="shot-action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097280"/>
            <a:ext cx="2880360" cy="2916936"/>
          </a:xfrm>
          <a:prstGeom prst="rect">
            <a:avLst/>
          </a:prstGeom>
        </p:spPr>
      </p:pic>
      <p:sp>
        <p:nvSpPr>
          <p:cNvPr id="19" name="shot-caption"/>
          <p:cNvSpPr txBox="1"/>
          <p:nvPr/>
        </p:nvSpPr>
        <p:spPr>
          <a:xfrm>
            <a:off x="5669280" y="4114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7D"/>
                </a:solidFill>
              </a:rPr>
              <a:t>Ilova interfeysi (telefon)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Muammo topiladi — yechim oddiy tilda</a:t>
            </a:r>
            <a:endParaRPr lang="en-US" sz="3000" dirty="0"/>
          </a:p>
        </p:txBody>
      </p:sp>
      <p:sp>
        <p:nvSpPr>
          <p:cNvPr id="3" name="pr-0-circle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pr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988" y="1233068"/>
            <a:ext cx="231343" cy="231343"/>
          </a:xfrm>
          <a:prstGeom prst="rect">
            <a:avLst/>
          </a:prstGeom>
        </p:spPr>
      </p:pic>
      <p:sp>
        <p:nvSpPr>
          <p:cNvPr id="5" name="pr-title-0"/>
          <p:cNvSpPr txBox="1"/>
          <p:nvPr/>
        </p:nvSpPr>
        <p:spPr>
          <a:xfrm>
            <a:off x="109728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Maktab oldida xavf</a:t>
            </a:r>
            <a:endParaRPr lang="en-US" sz="1500" dirty="0"/>
          </a:p>
        </p:txBody>
      </p:sp>
      <p:sp>
        <p:nvSpPr>
          <p:cNvPr id="6" name="pr-desc-0"/>
          <p:cNvSpPr txBox="1"/>
          <p:nvPr/>
        </p:nvSpPr>
        <p:spPr>
          <a:xfrm>
            <a:off x="109728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Koʻtarilgan piyoda oʻtish joyi, “Bolalar” belgisi</a:t>
            </a:r>
            <a:endParaRPr lang="en-US" sz="1200" dirty="0"/>
          </a:p>
        </p:txBody>
      </p:sp>
      <p:sp>
        <p:nvSpPr>
          <p:cNvPr id="7" name="pr-1-circle"/>
          <p:cNvSpPr/>
          <p:nvPr/>
        </p:nvSpPr>
        <p:spPr>
          <a:xfrm>
            <a:off x="457200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pr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88" y="1918868"/>
            <a:ext cx="231343" cy="231343"/>
          </a:xfrm>
          <a:prstGeom prst="rect">
            <a:avLst/>
          </a:prstGeom>
        </p:spPr>
      </p:pic>
      <p:sp>
        <p:nvSpPr>
          <p:cNvPr id="9" name="pr-title-1"/>
          <p:cNvSpPr txBox="1"/>
          <p:nvPr/>
        </p:nvSpPr>
        <p:spPr>
          <a:xfrm>
            <a:off x="109728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Svetoforsiz chorraha</a:t>
            </a:r>
            <a:endParaRPr lang="en-US" sz="1500" dirty="0"/>
          </a:p>
        </p:txBody>
      </p:sp>
      <p:sp>
        <p:nvSpPr>
          <p:cNvPr id="10" name="pr-desc-1"/>
          <p:cNvSpPr txBox="1"/>
          <p:nvPr/>
        </p:nvSpPr>
        <p:spPr>
          <a:xfrm>
            <a:off x="1097280" y="2057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Mashinalarni sanash, svetofor yoki halqa</a:t>
            </a:r>
            <a:endParaRPr lang="en-US" sz="1200" dirty="0"/>
          </a:p>
        </p:txBody>
      </p:sp>
      <p:sp>
        <p:nvSpPr>
          <p:cNvPr id="11" name="pr-2-circle"/>
          <p:cNvSpPr/>
          <p:nvPr/>
        </p:nvSpPr>
        <p:spPr>
          <a:xfrm>
            <a:off x="457200" y="2468880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12" name="pr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" y="2604668"/>
            <a:ext cx="231343" cy="231343"/>
          </a:xfrm>
          <a:prstGeom prst="rect">
            <a:avLst/>
          </a:prstGeom>
        </p:spPr>
      </p:pic>
      <p:sp>
        <p:nvSpPr>
          <p:cNvPr id="13" name="pr-title-2"/>
          <p:cNvSpPr txBox="1"/>
          <p:nvPr/>
        </p:nvSpPr>
        <p:spPr>
          <a:xfrm>
            <a:off x="1097280" y="2468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Bekat uzoq (400 m+)</a:t>
            </a:r>
            <a:endParaRPr lang="en-US" sz="1500" dirty="0"/>
          </a:p>
        </p:txBody>
      </p:sp>
      <p:sp>
        <p:nvSpPr>
          <p:cNvPr id="14" name="pr-desc-2"/>
          <p:cNvSpPr txBox="1"/>
          <p:nvPr/>
        </p:nvSpPr>
        <p:spPr>
          <a:xfrm>
            <a:off x="1097280" y="2743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Yangi bekat yoki yoʻnalishni oʻzgartirish</a:t>
            </a:r>
            <a:endParaRPr lang="en-US" sz="1200" dirty="0"/>
          </a:p>
        </p:txBody>
      </p:sp>
      <p:sp>
        <p:nvSpPr>
          <p:cNvPr id="15" name="pr-3-circle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pr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" y="3290468"/>
            <a:ext cx="231343" cy="231343"/>
          </a:xfrm>
          <a:prstGeom prst="rect">
            <a:avLst/>
          </a:prstGeom>
        </p:spPr>
      </p:pic>
      <p:sp>
        <p:nvSpPr>
          <p:cNvPr id="17" name="pr-title-3"/>
          <p:cNvSpPr txBox="1"/>
          <p:nvPr/>
        </p:nvSpPr>
        <p:spPr>
          <a:xfrm>
            <a:off x="1097280" y="3154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Oʻtish joyi kam</a:t>
            </a:r>
            <a:endParaRPr lang="en-US" sz="1500" dirty="0"/>
          </a:p>
        </p:txBody>
      </p:sp>
      <p:sp>
        <p:nvSpPr>
          <p:cNvPr id="18" name="pr-desc-3"/>
          <p:cNvSpPr txBox="1"/>
          <p:nvPr/>
        </p:nvSpPr>
        <p:spPr>
          <a:xfrm>
            <a:off x="1097280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Har 300–500 m da “zebra” va yoritish</a:t>
            </a:r>
            <a:endParaRPr lang="en-US" sz="1200" dirty="0"/>
          </a:p>
        </p:txBody>
      </p:sp>
      <p:sp>
        <p:nvSpPr>
          <p:cNvPr id="19" name="pr-4-circle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20" name="pr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88" y="3976268"/>
            <a:ext cx="231343" cy="231343"/>
          </a:xfrm>
          <a:prstGeom prst="rect">
            <a:avLst/>
          </a:prstGeom>
        </p:spPr>
      </p:pic>
      <p:sp>
        <p:nvSpPr>
          <p:cNvPr id="21" name="pr-title-4"/>
          <p:cNvSpPr txBox="1"/>
          <p:nvPr/>
        </p:nvSpPr>
        <p:spPr>
          <a:xfrm>
            <a:off x="109728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Hozirgi tirbandlik</a:t>
            </a:r>
            <a:endParaRPr lang="en-US" sz="1500" dirty="0"/>
          </a:p>
        </p:txBody>
      </p:sp>
      <p:sp>
        <p:nvSpPr>
          <p:cNvPr id="22" name="pr-desc-4"/>
          <p:cNvSpPr txBox="1"/>
          <p:nvPr/>
        </p:nvSpPr>
        <p:spPr>
          <a:xfrm>
            <a:off x="1097280" y="4114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Svetofor vaqtini sozlash, toʻxtashni taqiqlash</a:t>
            </a:r>
            <a:endParaRPr lang="en-US" sz="1200" dirty="0"/>
          </a:p>
        </p:txBody>
      </p:sp>
      <p:sp>
        <p:nvSpPr>
          <p:cNvPr id="23" name="shot2-bg"/>
          <p:cNvSpPr/>
          <p:nvPr/>
        </p:nvSpPr>
        <p:spPr>
          <a:xfrm>
            <a:off x="5532120" y="1097280"/>
            <a:ext cx="3154680" cy="28803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pic>
        <p:nvPicPr>
          <p:cNvPr id="24" name="shot-problem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1234440"/>
            <a:ext cx="2880360" cy="2359152"/>
          </a:xfrm>
          <a:prstGeom prst="rect">
            <a:avLst/>
          </a:prstGeom>
        </p:spPr>
      </p:pic>
      <p:sp>
        <p:nvSpPr>
          <p:cNvPr id="25" name="shot2-caption"/>
          <p:cNvSpPr txBox="1"/>
          <p:nvPr/>
        </p:nvSpPr>
        <p:spPr>
          <a:xfrm>
            <a:off x="5669280" y="3657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7D"/>
                </a:solidFill>
              </a:rPr>
              <a:t>Har bir muammo turi uchun karta</a:t>
            </a:r>
            <a:endParaRPr lang="en-US" sz="1000" dirty="0"/>
          </a:p>
        </p:txBody>
      </p:sp>
      <p:sp>
        <p:nvSpPr>
          <p:cNvPr id="26" name="pr-note"/>
          <p:cNvSpPr txBox="1"/>
          <p:nvPr/>
        </p:nvSpPr>
        <p:spPr>
          <a:xfrm>
            <a:off x="5532120" y="40690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F7D"/>
                </a:solidFill>
              </a:rPr>
              <a:t>Joyni bossangiz, xarita oʻsha yerga uchadi. Narxlar taxminiy, aniq qiymat smeta bilan belgilanadi.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Bashorat va jonli kuzatuv</a:t>
            </a:r>
            <a:endParaRPr lang="en-US" sz="3000" dirty="0"/>
          </a:p>
        </p:txBody>
      </p:sp>
      <p:graphicFrame>
        <p:nvGraphicFramePr>
          <p:cNvPr id="3" name="forecast-chart" descr=""/>
          <p:cNvGraphicFramePr/>
          <p:nvPr/>
        </p:nvGraphicFramePr>
        <p:xfrm>
          <a:off x="365760" y="105156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-note"/>
          <p:cNvSpPr txBox="1"/>
          <p:nvPr/>
        </p:nvSpPr>
        <p:spPr>
          <a:xfrm>
            <a:off x="457200" y="4206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F7D"/>
                </a:solidFill>
              </a:rPr>
              <a:t>Model misoli: xavf indeksi 50 boʻlgan koʻcha. TomTom oʻlchovlari toʻplangan sari bashorat real maʼlumotga oʻtadi.</a:t>
            </a:r>
            <a:endParaRPr lang="en-US" sz="1000" dirty="0"/>
          </a:p>
        </p:txBody>
      </p:sp>
      <p:sp>
        <p:nvSpPr>
          <p:cNvPr id="5" name="live-0-circle"/>
          <p:cNvSpPr/>
          <p:nvPr/>
        </p:nvSpPr>
        <p:spPr>
          <a:xfrm>
            <a:off x="5806440" y="1188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live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573" y="1336853"/>
            <a:ext cx="252374" cy="252374"/>
          </a:xfrm>
          <a:prstGeom prst="rect">
            <a:avLst/>
          </a:prstGeom>
        </p:spPr>
      </p:pic>
      <p:sp>
        <p:nvSpPr>
          <p:cNvPr id="7" name="live-title-0"/>
          <p:cNvSpPr txBox="1"/>
          <p:nvPr/>
        </p:nvSpPr>
        <p:spPr>
          <a:xfrm>
            <a:off x="6492240" y="1207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Har 10 daqiqada</a:t>
            </a:r>
            <a:endParaRPr lang="en-US" sz="1500" dirty="0"/>
          </a:p>
        </p:txBody>
      </p:sp>
      <p:sp>
        <p:nvSpPr>
          <p:cNvPr id="8" name="live-desc-0"/>
          <p:cNvSpPr txBox="1"/>
          <p:nvPr/>
        </p:nvSpPr>
        <p:spPr>
          <a:xfrm>
            <a:off x="6492240" y="149961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tahlil avtomatik yangilanadi</a:t>
            </a:r>
            <a:endParaRPr lang="en-US" sz="1200" dirty="0"/>
          </a:p>
        </p:txBody>
      </p:sp>
      <p:sp>
        <p:nvSpPr>
          <p:cNvPr id="9" name="live-1-circle"/>
          <p:cNvSpPr/>
          <p:nvPr/>
        </p:nvSpPr>
        <p:spPr>
          <a:xfrm>
            <a:off x="5806440" y="2194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live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573" y="2342693"/>
            <a:ext cx="252374" cy="252374"/>
          </a:xfrm>
          <a:prstGeom prst="rect">
            <a:avLst/>
          </a:prstGeom>
        </p:spPr>
      </p:pic>
      <p:sp>
        <p:nvSpPr>
          <p:cNvPr id="11" name="live-title-1"/>
          <p:cNvSpPr txBox="1"/>
          <p:nvPr/>
        </p:nvSpPr>
        <p:spPr>
          <a:xfrm>
            <a:off x="6492240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TomTom bilan</a:t>
            </a:r>
            <a:endParaRPr lang="en-US" sz="1500" dirty="0"/>
          </a:p>
        </p:txBody>
      </p:sp>
      <p:sp>
        <p:nvSpPr>
          <p:cNvPr id="12" name="live-desc-1"/>
          <p:cNvSpPr txBox="1"/>
          <p:nvPr/>
        </p:nvSpPr>
        <p:spPr>
          <a:xfrm>
            <a:off x="6492240" y="25054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asosiy koʻchalar navbatma-navbat oʻlchanadi</a:t>
            </a:r>
            <a:endParaRPr lang="en-US" sz="1200" dirty="0"/>
          </a:p>
        </p:txBody>
      </p:sp>
      <p:sp>
        <p:nvSpPr>
          <p:cNvPr id="13" name="live-2-circle"/>
          <p:cNvSpPr/>
          <p:nvPr/>
        </p:nvSpPr>
        <p:spPr>
          <a:xfrm>
            <a:off x="5806440" y="3200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live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573" y="3348533"/>
            <a:ext cx="252374" cy="252374"/>
          </a:xfrm>
          <a:prstGeom prst="rect">
            <a:avLst/>
          </a:prstGeom>
        </p:spPr>
      </p:pic>
      <p:sp>
        <p:nvSpPr>
          <p:cNvPr id="15" name="live-title-2"/>
          <p:cNvSpPr txBox="1"/>
          <p:nvPr/>
        </p:nvSpPr>
        <p:spPr>
          <a:xfrm>
            <a:off x="6492240" y="3218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Halol ishonch</a:t>
            </a:r>
            <a:endParaRPr lang="en-US" sz="1500" dirty="0"/>
          </a:p>
        </p:txBody>
      </p:sp>
      <p:sp>
        <p:nvSpPr>
          <p:cNvPr id="16" name="live-desc-2"/>
          <p:cNvSpPr txBox="1"/>
          <p:nvPr/>
        </p:nvSpPr>
        <p:spPr>
          <a:xfrm>
            <a:off x="6492240" y="351129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F4D"/>
                </a:solidFill>
              </a:rPr>
              <a:t>maʼlumot kam boʻlsa — “ishonch past” deb yoziladi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Bepul, tez va ishonchli</a:t>
            </a:r>
            <a:endParaRPr lang="en-US" sz="3000" dirty="0"/>
          </a:p>
        </p:txBody>
      </p:sp>
      <p:sp>
        <p:nvSpPr>
          <p:cNvPr id="3" name="stat-card-0"/>
          <p:cNvSpPr/>
          <p:nvPr/>
        </p:nvSpPr>
        <p:spPr>
          <a:xfrm>
            <a:off x="457200" y="114300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4" name="stat-val-0"/>
          <p:cNvSpPr txBox="1"/>
          <p:nvPr/>
        </p:nvSpPr>
        <p:spPr>
          <a:xfrm>
            <a:off x="68580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0 soʻm</a:t>
            </a:r>
            <a:endParaRPr lang="en-US" sz="4000" dirty="0"/>
          </a:p>
        </p:txBody>
      </p:sp>
      <p:sp>
        <p:nvSpPr>
          <p:cNvPr id="5" name="stat-desc-0"/>
          <p:cNvSpPr txBox="1"/>
          <p:nvPr/>
        </p:nvSpPr>
        <p:spPr>
          <a:xfrm>
            <a:off x="68580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ishga tushirish narxi — server va pullik xizmat kerak emas</a:t>
            </a:r>
            <a:endParaRPr lang="en-US" sz="1200" dirty="0"/>
          </a:p>
        </p:txBody>
      </p:sp>
      <p:sp>
        <p:nvSpPr>
          <p:cNvPr id="6" name="stat-card-1"/>
          <p:cNvSpPr/>
          <p:nvPr/>
        </p:nvSpPr>
        <p:spPr>
          <a:xfrm>
            <a:off x="3246120" y="114300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7" name="stat-val-1"/>
          <p:cNvSpPr txBox="1"/>
          <p:nvPr/>
        </p:nvSpPr>
        <p:spPr>
          <a:xfrm>
            <a:off x="347472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&lt; 1 s</a:t>
            </a:r>
            <a:endParaRPr lang="en-US" sz="4000" dirty="0"/>
          </a:p>
        </p:txBody>
      </p:sp>
      <p:sp>
        <p:nvSpPr>
          <p:cNvPr id="8" name="stat-desc-1"/>
          <p:cNvSpPr txBox="1"/>
          <p:nvPr/>
        </p:nvSpPr>
        <p:spPr>
          <a:xfrm>
            <a:off x="347472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bitta stsenariy hisobi (3 500 tugunli tarmoqda sinovda)</a:t>
            </a:r>
            <a:endParaRPr lang="en-US" sz="1200" dirty="0"/>
          </a:p>
        </p:txBody>
      </p:sp>
      <p:sp>
        <p:nvSpPr>
          <p:cNvPr id="9" name="stat-card-2"/>
          <p:cNvSpPr/>
          <p:nvPr/>
        </p:nvSpPr>
        <p:spPr>
          <a:xfrm>
            <a:off x="6035040" y="114300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10" name="stat-val-2"/>
          <p:cNvSpPr txBox="1"/>
          <p:nvPr/>
        </p:nvSpPr>
        <p:spPr>
          <a:xfrm>
            <a:off x="626364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48</a:t>
            </a:r>
            <a:endParaRPr lang="en-US" sz="4000" dirty="0"/>
          </a:p>
        </p:txBody>
      </p:sp>
      <p:sp>
        <p:nvSpPr>
          <p:cNvPr id="11" name="stat-desc-2"/>
          <p:cNvSpPr txBox="1"/>
          <p:nvPr/>
        </p:nvSpPr>
        <p:spPr>
          <a:xfrm>
            <a:off x="626364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avtomatik brauzer tekshiruvi oʻtadi</a:t>
            </a:r>
            <a:endParaRPr lang="en-US" sz="1200" dirty="0"/>
          </a:p>
        </p:txBody>
      </p:sp>
      <p:sp>
        <p:nvSpPr>
          <p:cNvPr id="12" name="tech-0-circle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tech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3140964"/>
            <a:ext cx="210312" cy="210312"/>
          </a:xfrm>
          <a:prstGeom prst="rect">
            <a:avLst/>
          </a:prstGeom>
        </p:spPr>
      </p:pic>
      <p:sp>
        <p:nvSpPr>
          <p:cNvPr id="14" name="tech-text-0"/>
          <p:cNvSpPr txBox="1"/>
          <p:nvPr/>
        </p:nvSpPr>
        <p:spPr>
          <a:xfrm>
            <a:off x="105156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Telefon va kompyuterda ishlaydi</a:t>
            </a:r>
            <a:endParaRPr lang="en-US" sz="1400" dirty="0"/>
          </a:p>
        </p:txBody>
      </p:sp>
      <p:sp>
        <p:nvSpPr>
          <p:cNvPr id="15" name="tech-1-circle"/>
          <p:cNvSpPr/>
          <p:nvPr/>
        </p:nvSpPr>
        <p:spPr>
          <a:xfrm>
            <a:off x="466344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tech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3140964"/>
            <a:ext cx="210312" cy="210312"/>
          </a:xfrm>
          <a:prstGeom prst="rect">
            <a:avLst/>
          </a:prstGeom>
        </p:spPr>
      </p:pic>
      <p:sp>
        <p:nvSpPr>
          <p:cNvPr id="17" name="tech-text-1"/>
          <p:cNvSpPr txBox="1"/>
          <p:nvPr/>
        </p:nvSpPr>
        <p:spPr>
          <a:xfrm>
            <a:off x="52578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Sekin internetda va oflaynda — keshdan</a:t>
            </a:r>
            <a:endParaRPr lang="en-US" sz="1400" dirty="0"/>
          </a:p>
        </p:txBody>
      </p:sp>
      <p:sp>
        <p:nvSpPr>
          <p:cNvPr id="18" name="tech-2-circle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tech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3872484"/>
            <a:ext cx="210312" cy="210312"/>
          </a:xfrm>
          <a:prstGeom prst="rect">
            <a:avLst/>
          </a:prstGeom>
        </p:spPr>
      </p:pic>
      <p:sp>
        <p:nvSpPr>
          <p:cNvPr id="20" name="tech-text-2"/>
          <p:cNvSpPr txBox="1"/>
          <p:nvPr/>
        </p:nvSpPr>
        <p:spPr>
          <a:xfrm>
            <a:off x="105156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API kalitlari faqat foydalanuvchi brauzerida</a:t>
            </a:r>
            <a:endParaRPr lang="en-US" sz="1400" dirty="0"/>
          </a:p>
        </p:txBody>
      </p:sp>
      <p:sp>
        <p:nvSpPr>
          <p:cNvPr id="21" name="tech-3-circle"/>
          <p:cNvSpPr/>
          <p:nvPr/>
        </p:nvSpPr>
        <p:spPr>
          <a:xfrm>
            <a:off x="466344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tech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884" y="3872484"/>
            <a:ext cx="210312" cy="210312"/>
          </a:xfrm>
          <a:prstGeom prst="rect">
            <a:avLst/>
          </a:prstGeom>
        </p:spPr>
      </p:pic>
      <p:sp>
        <p:nvSpPr>
          <p:cNvPr id="23" name="tech-text-3"/>
          <p:cNvSpPr txBox="1"/>
          <p:nvPr/>
        </p:nvSpPr>
        <p:spPr>
          <a:xfrm>
            <a:off x="525780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Ogʻir hisob Web Worker’da — interfeys qotmaydi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Kimga foyda beradi</a:t>
            </a:r>
            <a:endParaRPr lang="en-US" sz="3000" dirty="0"/>
          </a:p>
        </p:txBody>
      </p:sp>
      <p:sp>
        <p:nvSpPr>
          <p:cNvPr id="3" name="who-card-0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who-0-circle"/>
          <p:cNvSpPr/>
          <p:nvPr/>
        </p:nvSpPr>
        <p:spPr>
          <a:xfrm>
            <a:off x="685800" y="1463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who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966" y="1648206"/>
            <a:ext cx="315468" cy="315468"/>
          </a:xfrm>
          <a:prstGeom prst="rect">
            <a:avLst/>
          </a:prstGeom>
        </p:spPr>
      </p:pic>
      <p:sp>
        <p:nvSpPr>
          <p:cNvPr id="6" name="who-title-0"/>
          <p:cNvSpPr txBox="1"/>
          <p:nvPr/>
        </p:nvSpPr>
        <p:spPr>
          <a:xfrm>
            <a:off x="1600200" y="14813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Hokimiyat</a:t>
            </a:r>
            <a:endParaRPr lang="en-US" sz="1700" dirty="0"/>
          </a:p>
        </p:txBody>
      </p:sp>
      <p:sp>
        <p:nvSpPr>
          <p:cNvPr id="7" name="who-desc-0"/>
          <p:cNvSpPr txBox="1"/>
          <p:nvPr/>
        </p:nvSpPr>
        <p:spPr>
          <a:xfrm>
            <a:off x="1600200" y="18745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F4D"/>
                </a:solidFill>
              </a:rPr>
              <a:t>Koʻcha oʻzgarishini qaror qabul qilishdan oldin sinab koʻrish</a:t>
            </a:r>
            <a:endParaRPr lang="en-US" sz="1300" dirty="0"/>
          </a:p>
        </p:txBody>
      </p:sp>
      <p:sp>
        <p:nvSpPr>
          <p:cNvPr id="8" name="who-card-1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" name="who-1-circle"/>
          <p:cNvSpPr/>
          <p:nvPr/>
        </p:nvSpPr>
        <p:spPr>
          <a:xfrm>
            <a:off x="4892040" y="14630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who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206" y="1648206"/>
            <a:ext cx="315468" cy="315468"/>
          </a:xfrm>
          <a:prstGeom prst="rect">
            <a:avLst/>
          </a:prstGeom>
        </p:spPr>
      </p:pic>
      <p:sp>
        <p:nvSpPr>
          <p:cNvPr id="11" name="who-title-1"/>
          <p:cNvSpPr txBox="1"/>
          <p:nvPr/>
        </p:nvSpPr>
        <p:spPr>
          <a:xfrm>
            <a:off x="5806440" y="14813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Transport boshqarmasi</a:t>
            </a:r>
            <a:endParaRPr lang="en-US" sz="1700" dirty="0"/>
          </a:p>
        </p:txBody>
      </p:sp>
      <p:sp>
        <p:nvSpPr>
          <p:cNvPr id="12" name="who-desc-1"/>
          <p:cNvSpPr txBox="1"/>
          <p:nvPr/>
        </p:nvSpPr>
        <p:spPr>
          <a:xfrm>
            <a:off x="5806440" y="18745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F4D"/>
                </a:solidFill>
              </a:rPr>
              <a:t>Bekatlar qamrovi, yoʻnalishlar va oraliqlarni nazorat qilish</a:t>
            </a:r>
            <a:endParaRPr lang="en-US" sz="1300" dirty="0"/>
          </a:p>
        </p:txBody>
      </p:sp>
      <p:sp>
        <p:nvSpPr>
          <p:cNvPr id="13" name="who-card-2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4" name="who-2-circle"/>
          <p:cNvSpPr/>
          <p:nvPr/>
        </p:nvSpPr>
        <p:spPr>
          <a:xfrm>
            <a:off x="685800" y="3154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who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66" y="3339846"/>
            <a:ext cx="315468" cy="315468"/>
          </a:xfrm>
          <a:prstGeom prst="rect">
            <a:avLst/>
          </a:prstGeom>
        </p:spPr>
      </p:pic>
      <p:sp>
        <p:nvSpPr>
          <p:cNvPr id="16" name="who-title-2"/>
          <p:cNvSpPr txBox="1"/>
          <p:nvPr/>
        </p:nvSpPr>
        <p:spPr>
          <a:xfrm>
            <a:off x="1600200" y="31729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Maktab va mahalla</a:t>
            </a:r>
            <a:endParaRPr lang="en-US" sz="1700" dirty="0"/>
          </a:p>
        </p:txBody>
      </p:sp>
      <p:sp>
        <p:nvSpPr>
          <p:cNvPr id="17" name="who-desc-2"/>
          <p:cNvSpPr txBox="1"/>
          <p:nvPr/>
        </p:nvSpPr>
        <p:spPr>
          <a:xfrm>
            <a:off x="1600200" y="35661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F4D"/>
                </a:solidFill>
              </a:rPr>
              <a:t>Bolalar uchun xavfli joylarni aniqlash va talab qilish</a:t>
            </a:r>
            <a:endParaRPr lang="en-US" sz="1300" dirty="0"/>
          </a:p>
        </p:txBody>
      </p:sp>
      <p:sp>
        <p:nvSpPr>
          <p:cNvPr id="18" name="who-card-3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9" name="who-3-circle"/>
          <p:cNvSpPr/>
          <p:nvPr/>
        </p:nvSpPr>
        <p:spPr>
          <a:xfrm>
            <a:off x="4892040" y="31546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who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7206" y="3339846"/>
            <a:ext cx="315468" cy="315468"/>
          </a:xfrm>
          <a:prstGeom prst="rect">
            <a:avLst/>
          </a:prstGeom>
        </p:spPr>
      </p:pic>
      <p:sp>
        <p:nvSpPr>
          <p:cNvPr id="21" name="who-title-3"/>
          <p:cNvSpPr txBox="1"/>
          <p:nvPr/>
        </p:nvSpPr>
        <p:spPr>
          <a:xfrm>
            <a:off x="5806440" y="31729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Fuqarolar va turistlar</a:t>
            </a:r>
            <a:endParaRPr lang="en-US" sz="1700" dirty="0"/>
          </a:p>
        </p:txBody>
      </p:sp>
      <p:sp>
        <p:nvSpPr>
          <p:cNvPr id="22" name="who-desc-3"/>
          <p:cNvSpPr txBox="1"/>
          <p:nvPr/>
        </p:nvSpPr>
        <p:spPr>
          <a:xfrm>
            <a:off x="5806440" y="35661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F4D"/>
                </a:solidFill>
              </a:rPr>
              <a:t>Qaysi vaqtda qaysi koʻcha tirband boʻlishini bilish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Keyingi qadamlar</a:t>
            </a:r>
            <a:endParaRPr lang="en-US" sz="3000" dirty="0"/>
          </a:p>
        </p:txBody>
      </p:sp>
      <p:sp>
        <p:nvSpPr>
          <p:cNvPr id="3" name="next-num-bg-0"/>
          <p:cNvSpPr/>
          <p:nvPr/>
        </p:nvSpPr>
        <p:spPr>
          <a:xfrm>
            <a:off x="457200" y="1143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next-num-0"/>
          <p:cNvSpPr txBox="1"/>
          <p:nvPr/>
        </p:nvSpPr>
        <p:spPr>
          <a:xfrm>
            <a:off x="4572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next-title-0"/>
          <p:cNvSpPr txBox="1"/>
          <p:nvPr/>
        </p:nvSpPr>
        <p:spPr>
          <a:xfrm>
            <a:off x="1234440" y="11612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TomTom oʻlchovlarini toʻplash</a:t>
            </a:r>
            <a:endParaRPr lang="en-US" sz="1600" dirty="0"/>
          </a:p>
        </p:txBody>
      </p:sp>
      <p:sp>
        <p:nvSpPr>
          <p:cNvPr id="6" name="next-desc-0"/>
          <p:cNvSpPr txBox="1"/>
          <p:nvPr/>
        </p:nvSpPr>
        <p:spPr>
          <a:xfrm>
            <a:off x="1234440" y="14721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F4D"/>
                </a:solidFill>
              </a:rPr>
              <a:t>Bir necha hafta davomida soatbay maʼlumot — bashorat aniqlashadi</a:t>
            </a:r>
            <a:endParaRPr lang="en-US" sz="1300" dirty="0"/>
          </a:p>
        </p:txBody>
      </p:sp>
      <p:sp>
        <p:nvSpPr>
          <p:cNvPr id="7" name="next-icon-0-circle"/>
          <p:cNvSpPr/>
          <p:nvPr/>
        </p:nvSpPr>
        <p:spPr>
          <a:xfrm>
            <a:off x="6583680" y="12801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next-icon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5879" y="1502359"/>
            <a:ext cx="378562" cy="378562"/>
          </a:xfrm>
          <a:prstGeom prst="rect">
            <a:avLst/>
          </a:prstGeom>
        </p:spPr>
      </p:pic>
      <p:sp>
        <p:nvSpPr>
          <p:cNvPr id="9" name="next-num-bg-1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ext-num-1"/>
          <p:cNvSpPr txBox="1"/>
          <p:nvPr/>
        </p:nvSpPr>
        <p:spPr>
          <a:xfrm>
            <a:off x="4572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next-title-1"/>
          <p:cNvSpPr txBox="1"/>
          <p:nvPr/>
        </p:nvSpPr>
        <p:spPr>
          <a:xfrm>
            <a:off x="1234440" y="2029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Chorraha sanoqlari bilan kalibrlash</a:t>
            </a:r>
            <a:endParaRPr lang="en-US" sz="1600" dirty="0"/>
          </a:p>
        </p:txBody>
      </p:sp>
      <p:sp>
        <p:nvSpPr>
          <p:cNvPr id="12" name="next-desc-1"/>
          <p:cNvSpPr txBox="1"/>
          <p:nvPr/>
        </p:nvSpPr>
        <p:spPr>
          <a:xfrm>
            <a:off x="1234440" y="23408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F4D"/>
                </a:solidFill>
              </a:rPr>
              <a:t>Asosiy chorrahalarda mashinalarni sanab, modelni moslash</a:t>
            </a:r>
            <a:endParaRPr lang="en-US" sz="1300" dirty="0"/>
          </a:p>
        </p:txBody>
      </p:sp>
      <p:sp>
        <p:nvSpPr>
          <p:cNvPr id="13" name="next-icon-1-circle"/>
          <p:cNvSpPr/>
          <p:nvPr/>
        </p:nvSpPr>
        <p:spPr>
          <a:xfrm>
            <a:off x="7589520" y="12801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next-icon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719" y="1502359"/>
            <a:ext cx="378562" cy="378562"/>
          </a:xfrm>
          <a:prstGeom prst="rect">
            <a:avLst/>
          </a:prstGeom>
        </p:spPr>
      </p:pic>
      <p:sp>
        <p:nvSpPr>
          <p:cNvPr id="15" name="next-num-bg-2"/>
          <p:cNvSpPr/>
          <p:nvPr/>
        </p:nvSpPr>
        <p:spPr>
          <a:xfrm>
            <a:off x="457200" y="2880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next-num-2"/>
          <p:cNvSpPr txBox="1"/>
          <p:nvPr/>
        </p:nvSpPr>
        <p:spPr>
          <a:xfrm>
            <a:off x="4572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next-title-2"/>
          <p:cNvSpPr txBox="1"/>
          <p:nvPr/>
        </p:nvSpPr>
        <p:spPr>
          <a:xfrm>
            <a:off x="1234440" y="28986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Avtobus GPS maʼlumotini ulash</a:t>
            </a:r>
            <a:endParaRPr lang="en-US" sz="1600" dirty="0"/>
          </a:p>
        </p:txBody>
      </p:sp>
      <p:sp>
        <p:nvSpPr>
          <p:cNvPr id="18" name="next-desc-2"/>
          <p:cNvSpPr txBox="1"/>
          <p:nvPr/>
        </p:nvSpPr>
        <p:spPr>
          <a:xfrm>
            <a:off x="1234440" y="32095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F4D"/>
                </a:solidFill>
              </a:rPr>
              <a:t>Haqiqiy qatnov vaqti va kechikishlar</a:t>
            </a:r>
            <a:endParaRPr lang="en-US" sz="1300" dirty="0"/>
          </a:p>
        </p:txBody>
      </p:sp>
      <p:sp>
        <p:nvSpPr>
          <p:cNvPr id="19" name="next-icon-2-circle"/>
          <p:cNvSpPr/>
          <p:nvPr/>
        </p:nvSpPr>
        <p:spPr>
          <a:xfrm>
            <a:off x="6583680" y="27432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next-icon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879" y="2965399"/>
            <a:ext cx="378562" cy="378562"/>
          </a:xfrm>
          <a:prstGeom prst="rect">
            <a:avLst/>
          </a:prstGeom>
        </p:spPr>
      </p:pic>
      <p:sp>
        <p:nvSpPr>
          <p:cNvPr id="21" name="next-num-bg-3"/>
          <p:cNvSpPr/>
          <p:nvPr/>
        </p:nvSpPr>
        <p:spPr>
          <a:xfrm>
            <a:off x="45720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next-num-3"/>
          <p:cNvSpPr txBox="1"/>
          <p:nvPr/>
        </p:nvSpPr>
        <p:spPr>
          <a:xfrm>
            <a:off x="4572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next-title-3"/>
          <p:cNvSpPr txBox="1"/>
          <p:nvPr/>
        </p:nvSpPr>
        <p:spPr>
          <a:xfrm>
            <a:off x="1234440" y="37673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Boshqa shaharlarga kengaytirish</a:t>
            </a:r>
            <a:endParaRPr lang="en-US" sz="1600" dirty="0"/>
          </a:p>
        </p:txBody>
      </p:sp>
      <p:sp>
        <p:nvSpPr>
          <p:cNvPr id="24" name="next-desc-3"/>
          <p:cNvSpPr txBox="1"/>
          <p:nvPr/>
        </p:nvSpPr>
        <p:spPr>
          <a:xfrm>
            <a:off x="1234440" y="40782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F4D"/>
                </a:solidFill>
              </a:rPr>
              <a:t>Toshkent, Buxoro, Xiva — faqat hudud chegarasini oʻzgartirish kifoya</a:t>
            </a:r>
            <a:endParaRPr lang="en-US" sz="1300" dirty="0"/>
          </a:p>
        </p:txBody>
      </p:sp>
      <p:sp>
        <p:nvSpPr>
          <p:cNvPr id="25" name="next-icon-3-circle"/>
          <p:cNvSpPr/>
          <p:nvPr/>
        </p:nvSpPr>
        <p:spPr>
          <a:xfrm>
            <a:off x="7589520" y="27432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next-icon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1719" y="2965399"/>
            <a:ext cx="378562" cy="3785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Sinab koʻring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diyorjonabdurahmonov1-ai.github.io/shaxar-ai</a:t>
            </a:r>
            <a:endParaRPr lang="en-US" sz="2000" dirty="0"/>
          </a:p>
        </p:txBody>
      </p:sp>
      <p:sp>
        <p:nvSpPr>
          <p:cNvPr id="4" name="qr-bg"/>
          <p:cNvSpPr/>
          <p:nvPr/>
        </p:nvSpPr>
        <p:spPr>
          <a:xfrm>
            <a:off x="6309360" y="1234440"/>
            <a:ext cx="228600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</p:spPr>
      </p:sp>
      <p:pic>
        <p:nvPicPr>
          <p:cNvPr id="5" name="q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371600"/>
            <a:ext cx="2011680" cy="2011680"/>
          </a:xfrm>
          <a:prstGeom prst="rect">
            <a:avLst/>
          </a:prstGeom>
        </p:spPr>
      </p:pic>
      <p:sp>
        <p:nvSpPr>
          <p:cNvPr id="6" name="qr-caption"/>
          <p:cNvSpPr txBox="1"/>
          <p:nvPr/>
        </p:nvSpPr>
        <p:spPr>
          <a:xfrm>
            <a:off x="630936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QR-kodni telefon kamerasi bilan skanerlang</a:t>
            </a:r>
            <a:endParaRPr lang="en-US" sz="1200" dirty="0"/>
          </a:p>
        </p:txBody>
      </p:sp>
      <p:sp>
        <p:nvSpPr>
          <p:cNvPr id="7" name="repo"/>
          <p:cNvSpPr txBox="1"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</a:rPr>
              <a:t>Ochiq kod: github.com/diyorjonabdurahmonov1-ai/shaxar-ai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ty Jam">
  <a:themeElements>
    <a:clrScheme name="City Jam">
      <a:dk1>
        <a:srgbClr val="0F2524"/>
      </a:dk1>
      <a:lt1>
        <a:srgbClr val="FFFFFF"/>
      </a:lt1>
      <a:dk2>
        <a:srgbClr val="0B3D3A"/>
      </a:dk2>
      <a:lt2>
        <a:srgbClr val="EEF6F5"/>
      </a:lt2>
      <a:accent1>
        <a:srgbClr val="0F766E"/>
      </a:accent1>
      <a:accent2>
        <a:srgbClr val="F59E0B"/>
      </a:accent2>
      <a:accent3>
        <a:srgbClr val="DC2626"/>
      </a:accent3>
      <a:accent4>
        <a:srgbClr val="16A34A"/>
      </a:accent4>
      <a:accent5>
        <a:srgbClr val="7C3AED"/>
      </a:accent5>
      <a:accent6>
        <a:srgbClr val="0284C7"/>
      </a:accent6>
      <a:hlink>
        <a:srgbClr val="0F766E"/>
      </a:hlink>
      <a:folHlink>
        <a:srgbClr val="0B3D3A"/>
      </a:folHlink>
    </a:clrScheme>
    <a:fontScheme name="City Ja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Jam — Samarqand</dc:title>
  <dc:subject>PptxGenJS Presentation</dc:subject>
  <dc:creator>City Jam jamoasi</dc:creator>
  <cp:lastModifiedBy>City Jam jamoasi</cp:lastModifiedBy>
  <cp:revision>1</cp:revision>
  <dcterms:created xsi:type="dcterms:W3CDTF">2026-10-21T11:50:46Z</dcterms:created>
  <dcterms:modified xsi:type="dcterms:W3CDTF">2026-10-21T11:50:46Z</dcterms:modified>
</cp:coreProperties>
</file>